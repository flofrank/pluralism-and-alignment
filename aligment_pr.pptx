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wmf" ContentType="image/x-wmf"/>
  <Default Extension="png" ContentType="image/png"/>
  <Default Extension="rels" ContentType="application/vnd.openxmlformats-package.relationships+xml"/>
  <Default Extension="bin" ContentType="application/vnd.openxmlformats-officedocument.oleObject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6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4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3.xml" ContentType="application/vnd.openxmlformats-officedocument.presentationml.slide+xml"/>
  <Override PartName="/ppt/slideLayouts/slideLayout5.xml" ContentType="application/vnd.openxmlformats-officedocument.presentationml.slideLayout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Layouts/slideLayout2.xml" ContentType="application/vnd.openxmlformats-officedocument.presentationml.slideLayout+xml"/>
  <Override PartName="/ppt/notesSlides/notesSlide7.xml" ContentType="application/vnd.openxmlformats-officedocument.presentationml.notesSlid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notesSlides/notesSlide2.xml" ContentType="application/vnd.openxmlformats-officedocument.presentationml.notesSlide+xml"/>
  <Override PartName="/ppt/tableStyles.xml" ContentType="application/vnd.openxmlformats-officedocument.presentationml.tableStyle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9144000"/>
  <p:defaultTextStyle>
    <a:defPPr>
      <a:defRPr lang="de-DE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2247112" name="Platzhalter für Überschrift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446125568" name="Datumsplatzhalt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de-DE"/>
              <a:t>10/30/2013</a:t>
            </a:fld>
            <a:endParaRPr lang="de-DE"/>
          </a:p>
        </p:txBody>
      </p:sp>
      <p:sp>
        <p:nvSpPr>
          <p:cNvPr id="1561435801" name="Platzhalter für Folienbi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de-DE"/>
          </a:p>
        </p:txBody>
      </p:sp>
      <p:sp>
        <p:nvSpPr>
          <p:cNvPr id="1771489774" name="Platzhalter für Notizen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de-DE"/>
              <a:t>Textmasterformat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 lang="de-DE"/>
          </a:p>
        </p:txBody>
      </p:sp>
      <p:sp>
        <p:nvSpPr>
          <p:cNvPr id="1687592111" name="Fußzeilenplatzhalt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726804556" name="Foliennummernplatzhalt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de-DE"/>
              <a:t>‹#›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4303697" name="Platzhalter für Folienbild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08155994" name="Platzhalter für Notizen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de-DE">
              <a:latin typeface="Arial"/>
              <a:cs typeface="Arial"/>
            </a:endParaRPr>
          </a:p>
        </p:txBody>
      </p:sp>
      <p:sp>
        <p:nvSpPr>
          <p:cNvPr id="654413559" name="Foliennummernplatzhalt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6D95710-9A5F-15C4-3C85-55BA650B5D4E}" type="slidenum">
              <a:rPr lang="de-DE"/>
              <a:t/>
            </a:fld>
            <a:endParaRPr lang="de-DE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4333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584025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17775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37D2CF-C0EF-A577-BBCC-774298F2572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54605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159309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71704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6FA15F2-DDD1-C56D-43EE-64DC4AF4749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45626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124187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66249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AD9DD42-AC6B-4575-0242-1755C9EB5E6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520660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158977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68064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A19A22C-E7F7-48E7-1F0D-50057D1F46F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14767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398112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97376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E13D91A-F001-CEBB-C1D6-7C0B4FEDDD2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77B11F8-7C7E-3AEA-1191-44FEF4A26B8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2F9A960-3F70-7C2E-8288-BC1655142E5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56DE1D2-CD7A-064A-27C3-7C22C0C3D99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599954F-90DA-03C8-9FE3-84FAD8EEEFB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7B5EDFA-6D41-57FA-D58A-ED77808D1CE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elfoli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7392619" name="Titel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de-DE"/>
              <a:t>Titelmasterformat durch Klicken bearbeiten</a:t>
            </a:r>
            <a:endParaRPr lang="de-DE"/>
          </a:p>
        </p:txBody>
      </p:sp>
      <p:sp>
        <p:nvSpPr>
          <p:cNvPr id="395075845" name="Untertitel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de-DE"/>
              <a:t>Formatvorlage des Untertitelmasters durch Klicken bearbeiten</a:t>
            </a:r>
            <a:endParaRPr lang="de-DE"/>
          </a:p>
        </p:txBody>
      </p:sp>
      <p:sp>
        <p:nvSpPr>
          <p:cNvPr id="1492410509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de-DE"/>
              <a:t>30.10.2013</a:t>
            </a:fld>
            <a:endParaRPr lang="de-DE"/>
          </a:p>
        </p:txBody>
      </p:sp>
      <p:sp>
        <p:nvSpPr>
          <p:cNvPr id="836049849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2102261002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el und Inhal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1951065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Titelmasterformat durch Klicken bearbeiten</a:t>
            </a:r>
            <a:endParaRPr lang="de-DE"/>
          </a:p>
        </p:txBody>
      </p:sp>
      <p:sp>
        <p:nvSpPr>
          <p:cNvPr id="552393124" name="Inhaltsplatzhalt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de-DE"/>
              <a:t>Textmasterformat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 lang="de-DE"/>
          </a:p>
        </p:txBody>
      </p:sp>
      <p:sp>
        <p:nvSpPr>
          <p:cNvPr id="2038636446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de-DE"/>
              <a:t>30.10.2013</a:t>
            </a:fld>
            <a:endParaRPr lang="de-DE"/>
          </a:p>
        </p:txBody>
      </p:sp>
      <p:sp>
        <p:nvSpPr>
          <p:cNvPr id="970056262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412364445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Abschnitts-überschrif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3800075" name="Titel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de-DE"/>
              <a:t>Titelmasterformat durch Klicken bearbeiten</a:t>
            </a:r>
            <a:endParaRPr lang="de-DE"/>
          </a:p>
        </p:txBody>
      </p:sp>
      <p:sp>
        <p:nvSpPr>
          <p:cNvPr id="1510458982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de-DE"/>
              <a:t>Textmasterformat bearbeiten</a:t>
            </a:r>
            <a:endParaRPr/>
          </a:p>
        </p:txBody>
      </p:sp>
      <p:sp>
        <p:nvSpPr>
          <p:cNvPr id="1736867445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de-DE"/>
              <a:t>30.10.2013</a:t>
            </a:fld>
            <a:endParaRPr lang="de-DE"/>
          </a:p>
        </p:txBody>
      </p:sp>
      <p:sp>
        <p:nvSpPr>
          <p:cNvPr id="251861433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432233797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Zwei Inhal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1174984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Titelmasterformat durch Klicken bearbeiten</a:t>
            </a:r>
            <a:endParaRPr lang="de-DE"/>
          </a:p>
        </p:txBody>
      </p:sp>
      <p:sp>
        <p:nvSpPr>
          <p:cNvPr id="1293949445" name="Inhaltsplatzhalt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de-DE"/>
              <a:t>Textmasterformat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 lang="de-DE"/>
          </a:p>
        </p:txBody>
      </p:sp>
      <p:sp>
        <p:nvSpPr>
          <p:cNvPr id="1481442516" name="Inhaltsplatzhalt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de-DE"/>
              <a:t>Textmasterformat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 lang="de-DE"/>
          </a:p>
        </p:txBody>
      </p:sp>
      <p:sp>
        <p:nvSpPr>
          <p:cNvPr id="181063024" name="Datumsplatzhalt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de-DE"/>
              <a:t>30.10.2013</a:t>
            </a:fld>
            <a:endParaRPr lang="de-DE"/>
          </a:p>
        </p:txBody>
      </p:sp>
      <p:sp>
        <p:nvSpPr>
          <p:cNvPr id="1684474875" name="Fußzeilenplatzhalt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261079635" name="Foliennummernplatzhalt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Vergleich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4608127" name="Titel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de-DE"/>
              <a:t>Titelmasterformat durch Klicken bearbeiten</a:t>
            </a:r>
            <a:endParaRPr lang="de-DE"/>
          </a:p>
        </p:txBody>
      </p:sp>
      <p:sp>
        <p:nvSpPr>
          <p:cNvPr id="1650299211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Textmasterformat bearbeiten</a:t>
            </a:r>
            <a:endParaRPr/>
          </a:p>
        </p:txBody>
      </p:sp>
      <p:sp>
        <p:nvSpPr>
          <p:cNvPr id="1118117574" name="Inhaltsplatzhalt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de-DE"/>
              <a:t>Textmasterformat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 lang="de-DE"/>
          </a:p>
        </p:txBody>
      </p:sp>
      <p:sp>
        <p:nvSpPr>
          <p:cNvPr id="75491428" name="Textplatzhalt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Textmasterformat bearbeiten</a:t>
            </a:r>
            <a:endParaRPr/>
          </a:p>
        </p:txBody>
      </p:sp>
      <p:sp>
        <p:nvSpPr>
          <p:cNvPr id="1360515253" name="Inhaltsplatzhalt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de-DE"/>
              <a:t>Textmasterformat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 lang="de-DE"/>
          </a:p>
        </p:txBody>
      </p:sp>
      <p:sp>
        <p:nvSpPr>
          <p:cNvPr id="1505795062" name="Datumsplatzhalt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de-DE"/>
              <a:t>30.10.2013</a:t>
            </a:fld>
            <a:endParaRPr lang="de-DE"/>
          </a:p>
        </p:txBody>
      </p:sp>
      <p:sp>
        <p:nvSpPr>
          <p:cNvPr id="1183353016" name="Fußzeilenplatzhalt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997095970" name="Foliennummernplatzhalt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Nur Tite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1087170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Titelmasterformat durch Klicken bearbeiten</a:t>
            </a:r>
            <a:endParaRPr lang="de-DE"/>
          </a:p>
        </p:txBody>
      </p:sp>
      <p:sp>
        <p:nvSpPr>
          <p:cNvPr id="435059631" name="Datumsplatzhalt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de-DE"/>
              <a:t>30.10.2013</a:t>
            </a:fld>
            <a:endParaRPr lang="de-DE"/>
          </a:p>
        </p:txBody>
      </p:sp>
      <p:sp>
        <p:nvSpPr>
          <p:cNvPr id="1572069933" name="Fußzeilenplatzhalt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551506151" name="Foliennummernplatzhalt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Le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9826610" name="Datumsplatzhalt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de-DE"/>
              <a:t>30.10.2013</a:t>
            </a:fld>
            <a:endParaRPr lang="de-DE"/>
          </a:p>
        </p:txBody>
      </p:sp>
      <p:sp>
        <p:nvSpPr>
          <p:cNvPr id="1296424195" name="Fußzeilenplatzhalt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560138011" name="Foliennummernplatzhalt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Inhalt mit Überschrif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0744134" name="Titel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de-DE"/>
              <a:t>Titelmasterformat durch Klicken bearbeiten</a:t>
            </a:r>
            <a:endParaRPr lang="de-DE"/>
          </a:p>
        </p:txBody>
      </p:sp>
      <p:sp>
        <p:nvSpPr>
          <p:cNvPr id="435725824" name="Inhaltsplatzhalt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de-DE"/>
              <a:t>Textmasterformat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 lang="de-DE"/>
          </a:p>
        </p:txBody>
      </p:sp>
      <p:sp>
        <p:nvSpPr>
          <p:cNvPr id="1170947317" name="Textplatzhalt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de-DE"/>
              <a:t>Textmasterformat bearbeiten</a:t>
            </a:r>
            <a:endParaRPr/>
          </a:p>
        </p:txBody>
      </p:sp>
      <p:sp>
        <p:nvSpPr>
          <p:cNvPr id="810251892" name="Datumsplatzhalt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de-DE"/>
              <a:t>30.10.2013</a:t>
            </a:fld>
            <a:endParaRPr lang="de-DE"/>
          </a:p>
        </p:txBody>
      </p:sp>
      <p:sp>
        <p:nvSpPr>
          <p:cNvPr id="488924976" name="Fußzeilenplatzhalt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95821985" name="Foliennummernplatzhalt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Bild mit Überschrif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448440" name="Titel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de-DE"/>
              <a:t>Titelmasterformat durch Klicken bearbeiten</a:t>
            </a:r>
            <a:endParaRPr lang="de-DE"/>
          </a:p>
        </p:txBody>
      </p:sp>
      <p:sp>
        <p:nvSpPr>
          <p:cNvPr id="2095651761" name="Bildplatzhalt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de-DE"/>
              <a:t>Klicken Sie auf das Symbol, um ein Bild hinzuzufügen</a:t>
            </a:r>
            <a:endParaRPr lang="de-DE"/>
          </a:p>
        </p:txBody>
      </p:sp>
      <p:sp>
        <p:nvSpPr>
          <p:cNvPr id="1903765833" name="Textplatzhalt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de-DE"/>
              <a:t>Textmasterformat bearbeiten</a:t>
            </a:r>
            <a:endParaRPr/>
          </a:p>
        </p:txBody>
      </p:sp>
      <p:sp>
        <p:nvSpPr>
          <p:cNvPr id="1234999280" name="Datumsplatzhalt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de-DE"/>
              <a:t>30.10.2013</a:t>
            </a:fld>
            <a:endParaRPr lang="de-DE"/>
          </a:p>
        </p:txBody>
      </p:sp>
      <p:sp>
        <p:nvSpPr>
          <p:cNvPr id="1807039194" name="Fußzeilenplatzhalt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145689020" name="Foliennummernplatzhalt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el und vertikaler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622136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Titelmasterformat durch Klicken bearbeiten</a:t>
            </a:r>
            <a:endParaRPr lang="de-DE"/>
          </a:p>
        </p:txBody>
      </p:sp>
      <p:sp>
        <p:nvSpPr>
          <p:cNvPr id="2097317918" name="Vertikaler Textplatzhalt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de-DE"/>
              <a:t>Textmasterformat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 lang="de-DE"/>
          </a:p>
        </p:txBody>
      </p:sp>
      <p:sp>
        <p:nvSpPr>
          <p:cNvPr id="315687619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de-DE"/>
              <a:t>30.10.2013</a:t>
            </a:fld>
            <a:endParaRPr lang="de-DE"/>
          </a:p>
        </p:txBody>
      </p:sp>
      <p:sp>
        <p:nvSpPr>
          <p:cNvPr id="2045611206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227272865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kaler Titel u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52699" name="Vertikaler Titel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de-DE"/>
              <a:t>Titelmasterformat durch Klicken bearbeiten</a:t>
            </a:r>
            <a:endParaRPr lang="de-DE"/>
          </a:p>
        </p:txBody>
      </p:sp>
      <p:sp>
        <p:nvSpPr>
          <p:cNvPr id="844797572" name="Vertikaler Textplatzhalt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de-DE"/>
              <a:t>Textmasterformat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 lang="de-DE"/>
          </a:p>
        </p:txBody>
      </p:sp>
      <p:sp>
        <p:nvSpPr>
          <p:cNvPr id="521554203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de-DE"/>
              <a:t>30.10.2013</a:t>
            </a:fld>
            <a:endParaRPr lang="de-DE"/>
          </a:p>
        </p:txBody>
      </p:sp>
      <p:sp>
        <p:nvSpPr>
          <p:cNvPr id="833229635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2074403040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7233131" name="Titelplatzhalt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de-DE"/>
              <a:t>Titelmasterformat durch Klicken bearbeiten</a:t>
            </a:r>
            <a:endParaRPr lang="de-DE"/>
          </a:p>
        </p:txBody>
      </p:sp>
      <p:sp>
        <p:nvSpPr>
          <p:cNvPr id="487350872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de-DE"/>
              <a:t>Textmasterformat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 lang="de-DE"/>
          </a:p>
        </p:txBody>
      </p:sp>
      <p:sp>
        <p:nvSpPr>
          <p:cNvPr id="636973182" name="Datumsplatzhalt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de-DE"/>
              <a:t>30.10.2013</a:t>
            </a:fld>
            <a:endParaRPr lang="de-DE"/>
          </a:p>
        </p:txBody>
      </p:sp>
      <p:sp>
        <p:nvSpPr>
          <p:cNvPr id="865361014" name="Fußzeilenplatzhalt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54188045" name="Foliennummernplatzhalt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de-DE"/>
              <a:t>‹#›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1504696" name="Titel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 sz="6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Pluralism and Alignment</a:t>
            </a:r>
            <a:endParaRPr lang="de-DE"/>
          </a:p>
        </p:txBody>
      </p:sp>
      <p:sp>
        <p:nvSpPr>
          <p:cNvPr id="220777554" name="Untertitel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1523999" y="3602036"/>
            <a:ext cx="9144000" cy="1037997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de-DE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SE Emerging Trends in Spatial Data Science (2026W)</a:t>
            </a:r>
            <a:endParaRPr lang="de-DE" sz="2200"/>
          </a:p>
        </p:txBody>
      </p:sp>
      <p:sp>
        <p:nvSpPr>
          <p:cNvPr id="1337967373" name=""/>
          <p:cNvSpPr txBox="1"/>
          <p:nvPr/>
        </p:nvSpPr>
        <p:spPr bwMode="auto">
          <a:xfrm rot="0" flipH="0" flipV="0">
            <a:off x="2151320" y="5619749"/>
            <a:ext cx="2528480" cy="36611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Mattis Gerhardt</a:t>
            </a:r>
            <a:endParaRPr/>
          </a:p>
        </p:txBody>
      </p:sp>
      <p:sp>
        <p:nvSpPr>
          <p:cNvPr id="127902609" name=""/>
          <p:cNvSpPr txBox="1"/>
          <p:nvPr/>
        </p:nvSpPr>
        <p:spPr bwMode="auto">
          <a:xfrm rot="0" flipH="0" flipV="0">
            <a:off x="8440540" y="5619749"/>
            <a:ext cx="1576427" cy="36611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Florian Frank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1587077" name="Titel 1"/>
          <p:cNvSpPr>
            <a:spLocks noGrp="1"/>
          </p:cNvSpPr>
          <p:nvPr>
            <p:ph type="title"/>
          </p:nvPr>
        </p:nvSpPr>
        <p:spPr bwMode="auto">
          <a:xfrm>
            <a:off x="838199" y="-198325"/>
            <a:ext cx="10515600" cy="1325562"/>
          </a:xfrm>
        </p:spPr>
        <p:txBody>
          <a:bodyPr/>
          <a:lstStyle/>
          <a:p>
            <a:pPr>
              <a:defRPr/>
            </a:pPr>
            <a:r>
              <a:rPr/>
              <a:t>Papers overview </a:t>
            </a:r>
            <a:endParaRPr/>
          </a:p>
        </p:txBody>
      </p:sp>
      <p:sp>
        <p:nvSpPr>
          <p:cNvPr id="740916899" name="Inhaltsplatzhalter 2"/>
          <p:cNvSpPr>
            <a:spLocks noGrp="1"/>
          </p:cNvSpPr>
          <p:nvPr>
            <p:ph idx="1"/>
          </p:nvPr>
        </p:nvSpPr>
        <p:spPr bwMode="auto">
          <a:xfrm>
            <a:off x="12724326" y="5246575"/>
            <a:ext cx="10515600" cy="4351338"/>
          </a:xfrm>
        </p:spPr>
        <p:txBody>
          <a:bodyPr/>
          <a:lstStyle/>
          <a:p>
            <a:pPr>
              <a:defRPr/>
            </a:pPr>
            <a:r>
              <a:rPr lang="de-DE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A roadmap to pluralistic alignment </a:t>
            </a:r>
            <a:endParaRPr lang="de-DE" sz="2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marL="457200" lvl="1" indent="0">
              <a:buFont typeface="Arial"/>
              <a:buNone/>
              <a:defRPr/>
            </a:pPr>
            <a:r>
              <a:rPr lang="de-DE" sz="2000" b="0" i="1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Sorensen, Taylor, Jared Moore, Jillian Fisher, Mitchell Gordon, Niloofar Mireshghallah, Christopher Michael Rytting, Andre Ye et al.</a:t>
            </a:r>
            <a:endParaRPr sz="2400" b="0" i="1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endParaRPr/>
          </a:p>
          <a:p>
            <a:pPr>
              <a:defRPr/>
            </a:pPr>
            <a:r>
              <a:rPr lang="de-DE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Whose Truth? Pluralistic Geo-Alignment for (Agentic) AI</a:t>
            </a:r>
            <a:r>
              <a:rPr lang="de-DE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– Autoren</a:t>
            </a:r>
            <a:endParaRPr lang="de-DE" sz="2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marL="457200" lvl="1" indent="0">
              <a:buFont typeface="Arial"/>
              <a:buNone/>
              <a:defRPr/>
            </a:pPr>
            <a:r>
              <a:rPr lang="de-DE" sz="2000" b="0" i="1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Janowicz, Krzysztof, Zilong Liu, Gengchen Mai, Zhangyu Wang, Ivan Majic, Alexandra Fortacz, Grant McKenzie, and Song Gao. </a:t>
            </a:r>
            <a:endParaRPr sz="2000" i="1"/>
          </a:p>
        </p:txBody>
      </p:sp>
      <p:pic>
        <p:nvPicPr>
          <p:cNvPr id="2073920339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458521" y="800872"/>
            <a:ext cx="4817095" cy="6247626"/>
          </a:xfrm>
          <a:prstGeom prst="rect">
            <a:avLst/>
          </a:prstGeom>
        </p:spPr>
      </p:pic>
      <p:pic>
        <p:nvPicPr>
          <p:cNvPr id="1135966608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5693373" y="740479"/>
            <a:ext cx="4900376" cy="635563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3331565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What ist Pluralism? </a:t>
            </a:r>
            <a:endParaRPr/>
          </a:p>
        </p:txBody>
      </p:sp>
      <p:sp>
        <p:nvSpPr>
          <p:cNvPr id="720103276" name="Inhaltsplatzhalter 2"/>
          <p:cNvSpPr>
            <a:spLocks noGrp="1"/>
          </p:cNvSpPr>
          <p:nvPr>
            <p:ph idx="1"/>
          </p:nvPr>
        </p:nvSpPr>
        <p:spPr bwMode="auto">
          <a:xfrm flipH="0" flipV="0">
            <a:off x="838198" y="1825624"/>
            <a:ext cx="10515600" cy="2333623"/>
          </a:xfrm>
        </p:spPr>
        <p:txBody>
          <a:bodyPr/>
          <a:lstStyle/>
          <a:p>
            <a:pPr>
              <a:defRPr/>
            </a:pPr>
            <a:r>
              <a:rPr/>
              <a:t>Coexistence of diverse groups in a society </a:t>
            </a:r>
            <a:endParaRPr/>
          </a:p>
          <a:p>
            <a:pPr>
              <a:defRPr/>
            </a:pPr>
            <a:r>
              <a:rPr/>
              <a:t>With differnet values, perspectives, cultures, relegions, political beliefs ...</a:t>
            </a:r>
            <a:endParaRPr/>
          </a:p>
          <a:p>
            <a:pPr>
              <a:defRPr/>
            </a:pPr>
            <a:endParaRPr/>
          </a:p>
        </p:txBody>
      </p:sp>
      <p:pic>
        <p:nvPicPr>
          <p:cNvPr id="669972543" name=""/>
          <p:cNvPicPr>
            <a:picLocks noChangeAspect="1"/>
          </p:cNvPicPr>
          <p:nvPr/>
        </p:nvPicPr>
        <p:blipFill rotWithShape="1">
          <a:blip r:embed="rId3"/>
          <a:srcRect l="0" t="31994" r="0" b="0"/>
          <a:stretch/>
        </p:blipFill>
        <p:spPr bwMode="auto">
          <a:xfrm flipH="0" flipV="0">
            <a:off x="0" y="4349748"/>
            <a:ext cx="12191999" cy="25880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5782998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What is Alignment? </a:t>
            </a:r>
            <a:endParaRPr/>
          </a:p>
        </p:txBody>
      </p:sp>
      <p:sp>
        <p:nvSpPr>
          <p:cNvPr id="116523035" name="Inhaltsplatzhalt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Ensure that Ai-Systems behave according to societal norms, values and goals </a:t>
            </a:r>
            <a:endParaRPr/>
          </a:p>
          <a:p>
            <a:pPr>
              <a:defRPr/>
            </a:pPr>
            <a:r>
              <a:rPr/>
              <a:t>Problem: How can Ai-Systems serve a diverse groupe of people</a:t>
            </a:r>
            <a:endParaRPr/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4899961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Concrete Problems – Roadmap </a:t>
            </a:r>
            <a:endParaRPr/>
          </a:p>
        </p:txBody>
      </p:sp>
      <p:sp>
        <p:nvSpPr>
          <p:cNvPr id="1769540873" name="Inhaltsplatzhalt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When a question has multiple (resonable) answers, a model may just give one of them, acting as if it was the only answer</a:t>
            </a:r>
            <a:endParaRPr/>
          </a:p>
          <a:p>
            <a:pPr marL="0" indent="0">
              <a:buFont typeface="Arial"/>
              <a:buNone/>
              <a:defRPr/>
            </a:pPr>
            <a:endParaRPr/>
          </a:p>
          <a:p>
            <a:pPr>
              <a:defRPr/>
            </a:pPr>
            <a:r>
              <a:rPr/>
              <a:t>Models may be biased towards certain perspectiv -&gt; research shows that Ai-Models are most aligned with male, liberal, wealthy americans</a:t>
            </a:r>
            <a:endParaRPr/>
          </a:p>
          <a:p>
            <a:pPr marL="0" indent="0">
              <a:buFont typeface="Arial"/>
              <a:buNone/>
              <a:defRPr/>
            </a:pPr>
            <a:endParaRPr/>
          </a:p>
          <a:p>
            <a:pPr>
              <a:defRPr/>
            </a:pPr>
            <a:r>
              <a:rPr/>
              <a:t>Evaluation benschmarks do not properly represent these issues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295443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 sz="4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Reserach – Roadmap </a:t>
            </a:r>
            <a:endParaRPr sz="4400"/>
          </a:p>
        </p:txBody>
      </p:sp>
      <p:sp>
        <p:nvSpPr>
          <p:cNvPr id="1361581505" name="Inhaltsplatzhalt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Comparing pre and post aligment Models </a:t>
            </a:r>
            <a:endParaRPr/>
          </a:p>
          <a:p>
            <a:pPr marL="0" indent="0">
              <a:buFont typeface="Arial"/>
              <a:buNone/>
              <a:defRPr/>
            </a:pPr>
            <a:endParaRPr/>
          </a:p>
          <a:p>
            <a:pPr>
              <a:defRPr/>
            </a:pPr>
            <a:r>
              <a:rPr/>
              <a:t>Three definition of pluralistic models </a:t>
            </a:r>
            <a:endParaRPr/>
          </a:p>
          <a:p>
            <a:pPr marL="0" indent="0">
              <a:buFont typeface="Arial"/>
              <a:buNone/>
              <a:defRPr/>
            </a:pPr>
            <a:endParaRPr/>
          </a:p>
          <a:p>
            <a:pPr>
              <a:defRPr/>
            </a:pPr>
            <a:r>
              <a:rPr lang="de-DE" sz="2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Three definition of pluralistic benchmarks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5015260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Key findings – Roadmap </a:t>
            </a:r>
            <a:endParaRPr/>
          </a:p>
        </p:txBody>
      </p:sp>
      <p:sp>
        <p:nvSpPr>
          <p:cNvPr id="647410053" name="Inhaltsplatzhalt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Aligment can reduce response diversity 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Pluralismus needs differnt training and evaluation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Catering to the average opinion does not represent the population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6410628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 sz="4400" b="0" i="0" u="none" strike="noStrike" cap="none" spc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Concrete Problems – </a:t>
            </a:r>
            <a:r>
              <a:rPr lang="de-DE" sz="4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What is Alignment? </a:t>
            </a:r>
            <a:endParaRPr sz="4400"/>
          </a:p>
        </p:txBody>
      </p:sp>
      <p:sp>
        <p:nvSpPr>
          <p:cNvPr id="1756627015" name="Inhaltsplatzhalt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If an Answer ist resenable depends on the location, model answers often ignore this - &gt; Geo-Alligment</a:t>
            </a:r>
            <a:endParaRPr/>
          </a:p>
          <a:p>
            <a:pPr marL="0" indent="0">
              <a:buFont typeface="Arial"/>
              <a:buNone/>
              <a:defRPr/>
            </a:pPr>
            <a:endParaRPr/>
          </a:p>
          <a:p>
            <a:pPr>
              <a:defRPr/>
            </a:pPr>
            <a:r>
              <a:rPr/>
              <a:t>Geo-Alligment: adding learnable spatially explicit patterns, that underly the diverse perspectives </a:t>
            </a:r>
            <a:r>
              <a:rPr/>
              <a:t>all should align it </a:t>
            </a:r>
            <a:endParaRPr/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2018649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 sz="4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Reserach – </a:t>
            </a:r>
            <a:r>
              <a:rPr lang="de-DE" sz="4400" b="0" i="0" u="none" strike="noStrike" cap="none" spc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What is Alignment? </a:t>
            </a:r>
            <a:endParaRPr sz="4400"/>
          </a:p>
        </p:txBody>
      </p:sp>
      <p:sp>
        <p:nvSpPr>
          <p:cNvPr id="1165516470" name="Inhaltsplatzhalt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Formalizing Geo-Aligment</a:t>
            </a:r>
            <a:endParaRPr/>
          </a:p>
          <a:p>
            <a:pPr marL="0" indent="0">
              <a:buFont typeface="Arial"/>
              <a:buNone/>
              <a:defRPr/>
            </a:pPr>
            <a:endParaRPr/>
          </a:p>
          <a:p>
            <a:pPr>
              <a:defRPr/>
            </a:pPr>
            <a:r>
              <a:rPr/>
              <a:t>Highlighting some proposed research dirctions 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7786394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 sz="4400" b="0" i="0" u="none" strike="noStrike" cap="none" spc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Key findings – Roadmap </a:t>
            </a:r>
            <a:endParaRPr/>
          </a:p>
        </p:txBody>
      </p:sp>
      <p:sp>
        <p:nvSpPr>
          <p:cNvPr id="1422315578" name="Inhaltsplatzhalt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Its about ideas and future reasearch topics for Geo-Aligment research 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Spatial veriation ist not properly imported in Ai-Aligment but offers learnable solutions </a:t>
            </a:r>
            <a:endParaRPr/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5077541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Experiment </a:t>
            </a:r>
            <a:endParaRPr/>
          </a:p>
        </p:txBody>
      </p:sp>
      <p:sp>
        <p:nvSpPr>
          <p:cNvPr id="1184780249" name="Inhaltsplatzhalt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de-DE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Pose the question to the audience</a:t>
            </a:r>
            <a:endParaRPr lang="de-DE" sz="2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lvl="1">
              <a:defRPr/>
            </a:pPr>
            <a:r>
              <a:rPr lang="de-DE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Eg.: </a:t>
            </a:r>
            <a:r>
              <a:rPr lang="de-DE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How do you greet a stranger?</a:t>
            </a:r>
            <a:endParaRPr lang="de-DE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 lang="de-DE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de-DE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Ask the AI ​​for its response from various perspectives</a:t>
            </a:r>
            <a:endParaRPr lang="de-DE" sz="2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endParaRPr lang="de-DE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de-DE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Compare the AI's answers with the opinions expressed by the audience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ONLYOFFICE/9.3.1.8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</cp:revision>
  <dcterms:created xsi:type="dcterms:W3CDTF">2012-12-03T06:56:55Z</dcterms:created>
  <dcterms:modified xsi:type="dcterms:W3CDTF">2026-10-12T11:36:17Z</dcterms:modified>
</cp:coreProperties>
</file>