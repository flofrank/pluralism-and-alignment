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06806-8A14-4071-8267-E1DD79B0BEC2}" type="datetimeFigureOut">
              <a:rPr lang="de-DE" smtClean="0"/>
              <a:t>15.10.2026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2468F-B36F-42D8-9B2D-B63FE5741D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308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Mattis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2468F-B36F-42D8-9B2D-B63FE5741D94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5642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Mattis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2468F-B36F-42D8-9B2D-B63FE5741D94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2858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Mattis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2468F-B36F-42D8-9B2D-B63FE5741D94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1222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Florian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2468F-B36F-42D8-9B2D-B63FE5741D94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607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Florian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2468F-B36F-42D8-9B2D-B63FE5741D94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0845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Florian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2468F-B36F-42D8-9B2D-B63FE5741D94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5019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Mattis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 err="1"/>
              <a:t>Adding</a:t>
            </a:r>
            <a:r>
              <a:rPr lang="de-DE" dirty="0"/>
              <a:t> </a:t>
            </a:r>
            <a:r>
              <a:rPr lang="de-DE" b="1" u="sng" dirty="0" err="1"/>
              <a:t>learnable</a:t>
            </a:r>
            <a:r>
              <a:rPr lang="de-DE" dirty="0"/>
              <a:t> </a:t>
            </a:r>
            <a:r>
              <a:rPr lang="de-DE" dirty="0" err="1"/>
              <a:t>spatially</a:t>
            </a:r>
            <a:r>
              <a:rPr lang="de-DE" dirty="0"/>
              <a:t> explicit </a:t>
            </a:r>
            <a:r>
              <a:rPr lang="de-DE" dirty="0" err="1"/>
              <a:t>patterns</a:t>
            </a:r>
            <a:r>
              <a:rPr lang="de-DE" dirty="0"/>
              <a:t>,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underly</a:t>
            </a:r>
            <a:r>
              <a:rPr lang="de-DE" dirty="0"/>
              <a:t> the diverse </a:t>
            </a:r>
            <a:r>
              <a:rPr lang="de-DE" dirty="0" err="1"/>
              <a:t>perspectives</a:t>
            </a:r>
            <a:r>
              <a:rPr lang="de-DE" dirty="0"/>
              <a:t> AI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align</a:t>
            </a:r>
            <a:r>
              <a:rPr lang="de-DE" dirty="0"/>
              <a:t> 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Bild?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2468F-B36F-42D8-9B2D-B63FE5741D94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847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Mattis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2468F-B36F-42D8-9B2D-B63FE5741D94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5956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Mattis</a:t>
            </a:r>
          </a:p>
          <a:p>
            <a:r>
              <a:rPr lang="de-DE" dirty="0"/>
              <a:t>HIER MUSS NOCH WAS PASSIEREN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2468F-B36F-42D8-9B2D-B63FE5741D94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839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Florian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2468F-B36F-42D8-9B2D-B63FE5741D94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695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Florian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12468F-B36F-42D8-9B2D-B63FE5741D94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1112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2BDE17-1811-7C84-0BBB-661FF407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32AD163-67B5-F38E-F085-FCCDC073C4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3D2BA9D-0326-796B-C444-E723D8789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9EFA9DB-5ACA-F5FF-A64E-BB4A2AD63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A8F7DF1-417D-0F76-1B16-ADC70AE5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8804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BB181-F4DD-044E-6F93-6108A940E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7C5E1C-2E5A-2571-1ED1-6E4A733EB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2E2AF-7053-9A67-B9C6-7729E09F2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C6D371-CEF5-F206-925F-3B2012F0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5FEAF3-E89D-A459-52B3-775442C4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28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3B2779-3F6A-291D-E82E-5C03CCEFF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67C66F-7681-51FB-A6C2-6386D3B5D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A2669B-DB83-EA26-839B-D2B015F36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AEF8B7-8578-F283-37FF-514A4BC47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020870-098A-FC3F-64E0-A4ADE8208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1592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E9592F-692B-FFEE-105F-0236D4DF7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E0A42C-079A-9E57-9DDD-450744E16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A0C1317-6ECA-BFF3-D50B-11F6C1358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556695-C8F5-67EB-C9FF-BECC54A57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C12917-5F42-EA95-470A-D9F99F8B8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D92F3E-F3E1-7DF7-9FD6-623BEB75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5567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5DEA5D-9E09-C8CE-4ADF-6D1D8632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712802-292C-BA3D-582B-4850AC273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791F47-6DF8-C28D-815A-1E4EB34EA8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99B503-44CD-09B9-448A-077B4EADE6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2BE529-BEFF-0544-82EC-803567EDB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2AE23BF-C953-B588-2D4E-233065FFE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4A14A09-4867-21BB-AF52-57F279851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2F5B02D-F171-135D-56DC-5E9D38D77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564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F61580-61F0-D096-6F09-3981EDEE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446D51A-E5BE-604A-9462-DC946BF4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E6F6B71-33B2-8204-8A72-A2CB8300B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FD7E03-947D-0DE0-9AFA-7CB71DBBE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414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90D305A-A34B-5B62-1322-7AED853F4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1D5E9B-A370-3CDC-CE0E-0220BE6F7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82B83D-EADA-D271-6998-42EAA7A2B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868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7626C2-FCF1-971E-90F6-C91048BE6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F27F02-36E6-BA84-268E-99BAC2538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DB274C-9D1F-0089-B7B6-1B7AFACC1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97CED7D-4669-3F50-2F23-613BDD70C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71ADD2-3F66-8EF4-97B0-17D2F021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31388E-4799-3568-B18D-A8A24CE69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9797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5B981A-D151-B0E4-0DBE-E1DDC4531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8480CD-30EA-1E47-174C-6B62BDDAF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1AB8D5D-0907-DA55-F182-68014CB56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0932588-5A18-FAC0-331F-B28F15FDE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8C5CD4-0EA8-8F91-8154-7FB872A12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890771-229B-CDD2-F45D-1CA51171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160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065E84-90C9-2FBD-C55D-C2696DA86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4E3AD2C-531B-6840-9C05-9B5A1D758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C65079-5836-5947-1FE8-A2391B14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09EE68-FD05-5B5B-C80D-212377063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148AC4-FBE8-3038-4C31-A11EA5B0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509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0606742-669A-6292-0555-2250857CF0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0CA8E85-DE32-FA89-DB93-58DAF64AE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15B256-870D-D5E5-92EA-7680A2A91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46F883-7F92-B8C8-D221-1A57B060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8431BA-EAF2-6B74-F124-B6AB3C755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7862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19F493-7BD2-81A1-A6CB-3E8E1E6EE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D6AC16-8778-BA4C-9D46-070931C3F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6901D3-EDB3-F476-3B3F-90ACF6FE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67EF53-14BA-113D-D356-2BC758DF0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44E7E0-40D3-6084-E253-188D76347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C29A-4FAD-4014-95ED-A4E4120B6D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8069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39CC9E-5BAA-6F97-A191-07CE86AE6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B672F8-6FE7-03EE-F570-0BFA64B0B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ABFB23-8E9E-2054-BAC0-1957DBC0B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20C1D6-709A-05DA-4D6B-A3EEEF5F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EBE7EE-E08A-44D0-8985-9EC1AFE0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C29A-4FAD-4014-95ED-A4E4120B6D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4582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62A71D-949A-2EDE-E6F4-E32021E92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1EAF18-A3B4-7A7A-AD77-93C1D41F4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941BFA-C5F6-8FFF-475A-B7468C3C8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24BC5C-74AD-1EE2-2DA2-2A83DB208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FF14DD-8E21-BD81-C192-EF1647BB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C29A-4FAD-4014-95ED-A4E4120B6D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937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8F79DF-3DB1-1FE8-EF81-C8958BC78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DDA18F-102C-AFF7-27AB-A75A5D02F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A12700-5C2F-F692-942E-66F08E773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49D37F9-787A-EF69-7105-703F37E4D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9613CF9-DCFE-1FAB-D660-302520F6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98E97C-7A26-6C58-B8CA-709D50E7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C29A-4FAD-4014-95ED-A4E4120B6D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79336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2DF176-C158-C2C7-3F78-02A775310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011F07-E11C-CFDD-0EC4-868F12242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4090EB-10E2-C8D2-4C50-5AE85B649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8D633D3-9F1D-CC0E-2BA8-5C125D21FF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22C4879-3D46-CD47-6DC0-DCD6ADA07F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5DEB02F-967A-92D1-6C35-62A1BF2FA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644E4CA-654E-522D-777C-E32E98A4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44EB109-313D-248B-D3AF-CE9E493C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C29A-4FAD-4014-95ED-A4E4120B6D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7852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E0FDAF-BAC6-3AA6-A83D-9879B2F12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CA71F6C-25CC-A06A-6C41-2ED437B2D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BDDA57-2181-7705-97AF-9D736B40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A5DCC3-CD34-AC22-EBE4-442D674D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C29A-4FAD-4014-95ED-A4E4120B6D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79616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76FA572-D594-C16F-BCE8-2D2344C6A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1583A5C-C2F9-70A9-9A0E-BFCFEB7E7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725F87D-C8C7-8953-A78F-DFB97FB2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C29A-4FAD-4014-95ED-A4E4120B6D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2131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C3200E-CD0E-00D2-6FF4-78F38DA68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52EB3E-B863-E071-2F9A-E46D91CA0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631178A-9D48-49EF-F78E-ED5AFFABD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FD2B0C-A893-34C7-C7B5-EBB5F04D7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8FCDC8-DB0D-7D84-95D0-F4CA0CA7E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93943A-9679-3096-FA0E-FCD4F2D7F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C29A-4FAD-4014-95ED-A4E4120B6D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324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955A6B-50E2-3154-ED59-03D22830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9C7C0D-0704-9001-6F27-6F09CAD639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10DE58-1A1B-4E2C-C6EA-8835D7434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D53888-DE24-9F44-815A-C03C97BDB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07004A-9908-3FF7-D0D5-30C3972C6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4C576A4-A091-413E-7F22-03D67E5E3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C29A-4FAD-4014-95ED-A4E4120B6D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246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68552-6146-3AAF-EE88-5217D315F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DF168C-9904-CAFE-CB2F-B74622C95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1CCD4A-382A-062D-ECCB-C79BD7C29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92A21F-ADB8-09B2-2350-6FD81AD4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552CF2-A2F6-0BF8-4482-55E8C500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C29A-4FAD-4014-95ED-A4E4120B6D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1807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71F6A4C-A2DA-CDB5-D19D-7823831EE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11F75F8-E6B0-111B-2877-0A2A3DF87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306037-AC13-0E85-64E5-3C8E86A7F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B3EDD9-AB48-F894-7C77-60C8CC143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B5FEA6-927F-F12A-202A-17E67BE8C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1C29A-4FAD-4014-95ED-A4E4120B6D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2090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CC31C0A-E852-5217-AA92-CA9F2EE98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E7CB3EA-819E-6E47-3CCC-124B47DC4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5A2A93-4BA3-3369-5004-E7A1BFA5B2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19.10.2026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2073E6-EFD5-D47D-4A2B-0D4CF61FF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AB6C38-3E16-76E5-49DA-FF69DA2BD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07CAC1-5081-4D2E-8CEE-AE0F561F65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88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EAE1D2B-1083-49AB-CDA3-EF5F94EF1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3EBCF3D-2D97-D46A-B7A2-EFA08F65B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24C47B-A4A7-EE94-094C-129F149011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19.10.2026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6026CF-F24B-E5CD-F87C-9531552FE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E1B456-56BF-AF91-EE47-4F404ADFC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F1C29A-4FAD-4014-95ED-A4E4120B6D7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648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A8BB57-B334-49FD-2BF8-AFB477ABE0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Pluralism</a:t>
            </a:r>
            <a:r>
              <a:rPr lang="de-DE" dirty="0"/>
              <a:t> and Alignment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0BF0539-78DF-93DB-FAE1-4ECEACDB9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222880"/>
          </a:xfrm>
        </p:spPr>
        <p:txBody>
          <a:bodyPr/>
          <a:lstStyle/>
          <a:p>
            <a:r>
              <a:rPr lang="de-DE" dirty="0"/>
              <a:t>SE Emerging Trends in </a:t>
            </a:r>
            <a:r>
              <a:rPr lang="de-DE" dirty="0" err="1"/>
              <a:t>Spatial</a:t>
            </a:r>
            <a:r>
              <a:rPr lang="de-DE" dirty="0"/>
              <a:t> Data Science (2026W)</a:t>
            </a:r>
          </a:p>
          <a:p>
            <a:endParaRPr lang="de-DE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E8BBF647-DBE1-388E-58DF-83906943B831}"/>
              </a:ext>
            </a:extLst>
          </p:cNvPr>
          <p:cNvSpPr txBox="1"/>
          <p:nvPr/>
        </p:nvSpPr>
        <p:spPr>
          <a:xfrm>
            <a:off x="1524000" y="5735637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Mattis Gerhardt							        Florian Frank</a:t>
            </a:r>
          </a:p>
        </p:txBody>
      </p:sp>
    </p:spTree>
    <p:extLst>
      <p:ext uri="{BB962C8B-B14F-4D97-AF65-F5344CB8AC3E}">
        <p14:creationId xmlns:p14="http://schemas.microsoft.com/office/powerpoint/2010/main" val="1209056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nhaltsplatzhalter 7">
            <a:extLst>
              <a:ext uri="{FF2B5EF4-FFF2-40B4-BE49-F238E27FC236}">
                <a16:creationId xmlns:a16="http://schemas.microsoft.com/office/drawing/2014/main" id="{C5350F8E-D77E-73AD-3FE2-99D9DAA13C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772652"/>
            <a:ext cx="4973935" cy="6451045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520B75-C971-6DA0-3B33-A39F51EB3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03CD68B-A7D1-076B-3FBB-B19FE455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E1C7BF-3909-606E-7757-70A14594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2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8C48D1F-C0F0-038C-289A-10183DFF5C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335" y="772652"/>
            <a:ext cx="4973936" cy="645104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39C7E5F-18AC-D163-BC14-1A23239DF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de-DE" dirty="0" err="1"/>
              <a:t>Literature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1372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7178BA-9E49-94B7-80B8-6871031B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Pluralism</a:t>
            </a:r>
            <a:r>
              <a:rPr lang="de-DE" dirty="0"/>
              <a:t> and Alignment?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C15DA8-F2EA-4D47-33F0-147F7D314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Pluralism</a:t>
            </a:r>
            <a:endParaRPr lang="de-DE" dirty="0"/>
          </a:p>
          <a:p>
            <a:pPr lvl="1"/>
            <a:r>
              <a:rPr lang="de-DE" dirty="0" err="1"/>
              <a:t>Coexistence</a:t>
            </a:r>
            <a:r>
              <a:rPr lang="de-DE" dirty="0"/>
              <a:t> of </a:t>
            </a:r>
            <a:r>
              <a:rPr lang="de-DE" dirty="0">
                <a:highlight>
                  <a:srgbClr val="C0C0C0"/>
                </a:highlight>
              </a:rPr>
              <a:t>diverse </a:t>
            </a:r>
            <a:r>
              <a:rPr lang="de-DE" dirty="0" err="1">
                <a:highlight>
                  <a:srgbClr val="C0C0C0"/>
                </a:highlight>
              </a:rPr>
              <a:t>groups</a:t>
            </a:r>
            <a:r>
              <a:rPr lang="de-DE" dirty="0">
                <a:highlight>
                  <a:srgbClr val="C0C0C0"/>
                </a:highlight>
              </a:rPr>
              <a:t> in </a:t>
            </a:r>
            <a:r>
              <a:rPr lang="de-DE" dirty="0" err="1">
                <a:highlight>
                  <a:srgbClr val="C0C0C0"/>
                </a:highlight>
              </a:rPr>
              <a:t>society</a:t>
            </a:r>
            <a:endParaRPr lang="de-DE" dirty="0">
              <a:highlight>
                <a:srgbClr val="C0C0C0"/>
              </a:highlight>
            </a:endParaRPr>
          </a:p>
          <a:p>
            <a:pPr lvl="1"/>
            <a:r>
              <a:rPr lang="de-DE" dirty="0"/>
              <a:t>Diverse </a:t>
            </a:r>
            <a:r>
              <a:rPr lang="de-DE" dirty="0" err="1"/>
              <a:t>values</a:t>
            </a:r>
            <a:r>
              <a:rPr lang="de-DE" dirty="0"/>
              <a:t>, </a:t>
            </a:r>
            <a:r>
              <a:rPr lang="de-DE" dirty="0" err="1"/>
              <a:t>perspectives</a:t>
            </a:r>
            <a:r>
              <a:rPr lang="de-DE" dirty="0"/>
              <a:t>, </a:t>
            </a:r>
            <a:r>
              <a:rPr lang="de-DE" dirty="0" err="1"/>
              <a:t>cultures</a:t>
            </a:r>
            <a:r>
              <a:rPr lang="de-DE" dirty="0"/>
              <a:t>, </a:t>
            </a:r>
            <a:r>
              <a:rPr lang="de-DE" dirty="0" err="1"/>
              <a:t>religions</a:t>
            </a:r>
            <a:r>
              <a:rPr lang="de-DE" dirty="0"/>
              <a:t>, </a:t>
            </a:r>
            <a:r>
              <a:rPr lang="de-DE" dirty="0" err="1"/>
              <a:t>political</a:t>
            </a:r>
            <a:r>
              <a:rPr lang="de-DE" dirty="0"/>
              <a:t> beliefs, … </a:t>
            </a:r>
          </a:p>
          <a:p>
            <a:r>
              <a:rPr lang="de-DE" dirty="0"/>
              <a:t>Alignment</a:t>
            </a:r>
          </a:p>
          <a:p>
            <a:pPr lvl="1"/>
            <a:r>
              <a:rPr lang="de-DE" dirty="0"/>
              <a:t>AI-Systems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>
                <a:highlight>
                  <a:srgbClr val="C0C0C0"/>
                </a:highlight>
              </a:rPr>
              <a:t>behave</a:t>
            </a:r>
            <a:r>
              <a:rPr lang="de-DE" dirty="0">
                <a:highlight>
                  <a:srgbClr val="C0C0C0"/>
                </a:highlight>
              </a:rPr>
              <a:t> </a:t>
            </a:r>
            <a:r>
              <a:rPr lang="de-DE" dirty="0" err="1">
                <a:highlight>
                  <a:srgbClr val="C0C0C0"/>
                </a:highlight>
              </a:rPr>
              <a:t>according</a:t>
            </a:r>
            <a:r>
              <a:rPr lang="de-DE" dirty="0">
                <a:highlight>
                  <a:srgbClr val="C0C0C0"/>
                </a:highlight>
              </a:rPr>
              <a:t> to </a:t>
            </a:r>
            <a:r>
              <a:rPr lang="de-DE" dirty="0" err="1">
                <a:highlight>
                  <a:srgbClr val="C0C0C0"/>
                </a:highlight>
              </a:rPr>
              <a:t>societal</a:t>
            </a:r>
            <a:r>
              <a:rPr lang="de-DE" dirty="0">
                <a:highlight>
                  <a:srgbClr val="C0C0C0"/>
                </a:highlight>
              </a:rPr>
              <a:t> </a:t>
            </a:r>
            <a:r>
              <a:rPr lang="de-DE" dirty="0" err="1">
                <a:highlight>
                  <a:srgbClr val="C0C0C0"/>
                </a:highlight>
              </a:rPr>
              <a:t>norms</a:t>
            </a:r>
            <a:r>
              <a:rPr lang="de-DE" dirty="0">
                <a:highlight>
                  <a:srgbClr val="C0C0C0"/>
                </a:highlight>
              </a:rPr>
              <a:t>, </a:t>
            </a:r>
            <a:r>
              <a:rPr lang="de-DE" dirty="0" err="1">
                <a:highlight>
                  <a:srgbClr val="C0C0C0"/>
                </a:highlight>
              </a:rPr>
              <a:t>values</a:t>
            </a:r>
            <a:r>
              <a:rPr lang="de-DE" dirty="0">
                <a:highlight>
                  <a:srgbClr val="C0C0C0"/>
                </a:highlight>
              </a:rPr>
              <a:t> and </a:t>
            </a:r>
            <a:r>
              <a:rPr lang="de-DE" dirty="0" err="1">
                <a:highlight>
                  <a:srgbClr val="C0C0C0"/>
                </a:highlight>
              </a:rPr>
              <a:t>goals</a:t>
            </a:r>
            <a:endParaRPr lang="de-DE" dirty="0">
              <a:highlight>
                <a:srgbClr val="C0C0C0"/>
              </a:highlight>
            </a:endParaRPr>
          </a:p>
          <a:p>
            <a:pPr marL="457200" lvl="1" indent="0">
              <a:buNone/>
            </a:pPr>
            <a:endParaRPr lang="de-DE" dirty="0"/>
          </a:p>
          <a:p>
            <a:pPr marL="457200" lvl="1" indent="0">
              <a:buNone/>
            </a:pPr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1ACAE2-CDE5-AE29-79CF-C91CB78F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9B3DE4-C92E-B3AC-52D4-9BED88FD6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CAEB0F-F460-84E6-1D5B-D31D6F4AF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3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DF5E212-36E1-78B6-4CC6-DAB4B62FB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0464" y="365125"/>
            <a:ext cx="2097999" cy="229133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2DFB34A-DD00-3542-ACA2-D4C5BCF279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36"/>
          <a:stretch>
            <a:fillRect/>
          </a:stretch>
        </p:blipFill>
        <p:spPr>
          <a:xfrm>
            <a:off x="0" y="4261003"/>
            <a:ext cx="12192000" cy="260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857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C87582-94BD-FB3A-923C-8364CE3F8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A Roadmap to </a:t>
            </a:r>
            <a:r>
              <a:rPr lang="de-DE" dirty="0" err="1"/>
              <a:t>Pluralistic</a:t>
            </a:r>
            <a:r>
              <a:rPr lang="de-DE" dirty="0"/>
              <a:t> Alignment</a:t>
            </a:r>
            <a:br>
              <a:rPr lang="de-DE" dirty="0"/>
            </a:br>
            <a:r>
              <a:rPr lang="de-DE" dirty="0"/>
              <a:t>Problems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769B60-08D3-9BC8-3264-386DDCD0D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highlight>
                  <a:srgbClr val="C0C0C0"/>
                </a:highlight>
              </a:rPr>
              <a:t>Multiple </a:t>
            </a:r>
            <a:r>
              <a:rPr lang="de-DE" dirty="0" err="1">
                <a:highlight>
                  <a:srgbClr val="C0C0C0"/>
                </a:highlight>
              </a:rPr>
              <a:t>reasonable</a:t>
            </a:r>
            <a:r>
              <a:rPr lang="de-DE" dirty="0">
                <a:highlight>
                  <a:srgbClr val="C0C0C0"/>
                </a:highlight>
              </a:rPr>
              <a:t> </a:t>
            </a:r>
            <a:r>
              <a:rPr lang="de-DE" dirty="0" err="1">
                <a:highlight>
                  <a:srgbClr val="C0C0C0"/>
                </a:highlight>
              </a:rPr>
              <a:t>answers</a:t>
            </a:r>
            <a:r>
              <a:rPr lang="de-DE" dirty="0"/>
              <a:t>         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of </a:t>
            </a:r>
            <a:r>
              <a:rPr lang="de-DE" dirty="0" err="1"/>
              <a:t>them</a:t>
            </a:r>
            <a:endParaRPr lang="de-DE" dirty="0"/>
          </a:p>
          <a:p>
            <a:endParaRPr lang="de-DE" dirty="0"/>
          </a:p>
          <a:p>
            <a:r>
              <a:rPr lang="de-DE" dirty="0"/>
              <a:t>Models </a:t>
            </a:r>
            <a:r>
              <a:rPr lang="de-DE" dirty="0" err="1"/>
              <a:t>may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>
                <a:highlight>
                  <a:srgbClr val="C0C0C0"/>
                </a:highlight>
              </a:rPr>
              <a:t>biased</a:t>
            </a:r>
            <a:r>
              <a:rPr lang="de-DE" dirty="0"/>
              <a:t> </a:t>
            </a:r>
            <a:r>
              <a:rPr lang="de-DE" dirty="0" err="1"/>
              <a:t>towards</a:t>
            </a:r>
            <a:r>
              <a:rPr lang="de-DE" dirty="0"/>
              <a:t> </a:t>
            </a:r>
            <a:r>
              <a:rPr lang="de-DE" dirty="0" err="1"/>
              <a:t>certain</a:t>
            </a:r>
            <a:r>
              <a:rPr lang="de-DE" dirty="0"/>
              <a:t> </a:t>
            </a:r>
            <a:r>
              <a:rPr lang="de-DE" dirty="0" err="1"/>
              <a:t>perspectives</a:t>
            </a:r>
            <a:endParaRPr lang="de-DE" dirty="0"/>
          </a:p>
          <a:p>
            <a:pPr lvl="1"/>
            <a:r>
              <a:rPr lang="de-DE" dirty="0"/>
              <a:t>White, male, liberal, </a:t>
            </a:r>
            <a:r>
              <a:rPr lang="de-DE" dirty="0" err="1"/>
              <a:t>wealthy</a:t>
            </a:r>
            <a:r>
              <a:rPr lang="de-DE" dirty="0"/>
              <a:t>, </a:t>
            </a:r>
            <a:r>
              <a:rPr lang="de-DE" dirty="0" err="1"/>
              <a:t>american</a:t>
            </a:r>
            <a:endParaRPr lang="de-DE" dirty="0"/>
          </a:p>
          <a:p>
            <a:endParaRPr lang="de-DE" dirty="0"/>
          </a:p>
          <a:p>
            <a:r>
              <a:rPr lang="de-DE" dirty="0">
                <a:highlight>
                  <a:srgbClr val="C0C0C0"/>
                </a:highlight>
              </a:rPr>
              <a:t>Evaluation </a:t>
            </a:r>
            <a:r>
              <a:rPr lang="de-DE" dirty="0" err="1">
                <a:highlight>
                  <a:srgbClr val="C0C0C0"/>
                </a:highlight>
              </a:rPr>
              <a:t>benchmarks</a:t>
            </a:r>
            <a:r>
              <a:rPr lang="de-DE" dirty="0"/>
              <a:t> do not </a:t>
            </a:r>
            <a:r>
              <a:rPr lang="de-DE" dirty="0" err="1"/>
              <a:t>properly</a:t>
            </a:r>
            <a:r>
              <a:rPr lang="de-DE" dirty="0"/>
              <a:t> </a:t>
            </a:r>
            <a:r>
              <a:rPr lang="de-DE" dirty="0" err="1"/>
              <a:t>represent</a:t>
            </a:r>
            <a:r>
              <a:rPr lang="de-DE" dirty="0"/>
              <a:t> </a:t>
            </a:r>
            <a:r>
              <a:rPr lang="de-DE" dirty="0" err="1"/>
              <a:t>these</a:t>
            </a:r>
            <a:r>
              <a:rPr lang="de-DE" dirty="0"/>
              <a:t> </a:t>
            </a:r>
            <a:r>
              <a:rPr lang="de-DE" dirty="0" err="1"/>
              <a:t>issues</a:t>
            </a:r>
            <a:r>
              <a:rPr lang="de-DE" dirty="0"/>
              <a:t>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749ED1C-0CF7-4591-BDAC-150AF7D9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0A99FE-C8B6-06FC-A17D-29471B0C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F82FEC-3E77-3E78-2779-85B608AC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4</a:t>
            </a:fld>
            <a:endParaRPr lang="de-DE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7FC1F60-0231-0FA9-2229-AF669568B3A8}"/>
              </a:ext>
            </a:extLst>
          </p:cNvPr>
          <p:cNvCxnSpPr>
            <a:cxnSpLocks/>
          </p:cNvCxnSpPr>
          <p:nvPr/>
        </p:nvCxnSpPr>
        <p:spPr>
          <a:xfrm>
            <a:off x="5758775" y="2071991"/>
            <a:ext cx="337225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865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A379FA-7B41-5CAE-F9BD-78D10B352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A Roadmap to </a:t>
            </a:r>
            <a:r>
              <a:rPr lang="de-DE" dirty="0" err="1"/>
              <a:t>Pluralistic</a:t>
            </a:r>
            <a:r>
              <a:rPr lang="de-DE" dirty="0"/>
              <a:t> Alignment </a:t>
            </a:r>
            <a:br>
              <a:rPr lang="de-DE" dirty="0"/>
            </a:br>
            <a:r>
              <a:rPr lang="de-DE" dirty="0"/>
              <a:t>Research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3D9D64-2ACC-6579-CD44-8027E829F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>
                <a:highlight>
                  <a:srgbClr val="C0C0C0"/>
                </a:highlight>
              </a:rPr>
              <a:t>Comparison</a:t>
            </a:r>
            <a:r>
              <a:rPr lang="de-DE" dirty="0"/>
              <a:t> of </a:t>
            </a:r>
            <a:r>
              <a:rPr lang="de-DE" dirty="0" err="1"/>
              <a:t>pre</a:t>
            </a:r>
            <a:r>
              <a:rPr lang="de-DE" dirty="0"/>
              <a:t>- and post-</a:t>
            </a:r>
            <a:r>
              <a:rPr lang="de-DE" dirty="0" err="1"/>
              <a:t>aligned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definitions</a:t>
            </a:r>
            <a:r>
              <a:rPr lang="de-DE" dirty="0"/>
              <a:t> of </a:t>
            </a:r>
            <a:r>
              <a:rPr lang="de-DE" dirty="0" err="1">
                <a:highlight>
                  <a:srgbClr val="C0C0C0"/>
                </a:highlight>
              </a:rPr>
              <a:t>pluralistic</a:t>
            </a:r>
            <a:r>
              <a:rPr lang="de-DE" dirty="0">
                <a:highlight>
                  <a:srgbClr val="C0C0C0"/>
                </a:highlight>
              </a:rPr>
              <a:t> </a:t>
            </a:r>
            <a:r>
              <a:rPr lang="de-DE" dirty="0" err="1">
                <a:highlight>
                  <a:srgbClr val="C0C0C0"/>
                </a:highlight>
              </a:rPr>
              <a:t>models</a:t>
            </a:r>
            <a:endParaRPr lang="de-DE" dirty="0">
              <a:highlight>
                <a:srgbClr val="C0C0C0"/>
              </a:highlight>
            </a:endParaRPr>
          </a:p>
          <a:p>
            <a:endParaRPr lang="de-DE" dirty="0"/>
          </a:p>
          <a:p>
            <a:r>
              <a:rPr lang="de-DE" dirty="0" err="1"/>
              <a:t>Three</a:t>
            </a:r>
            <a:r>
              <a:rPr lang="de-DE" dirty="0"/>
              <a:t> </a:t>
            </a:r>
            <a:r>
              <a:rPr lang="de-DE" dirty="0" err="1"/>
              <a:t>definitions</a:t>
            </a:r>
            <a:r>
              <a:rPr lang="de-DE" dirty="0"/>
              <a:t> of </a:t>
            </a:r>
            <a:r>
              <a:rPr lang="de-DE" dirty="0" err="1">
                <a:highlight>
                  <a:srgbClr val="C0C0C0"/>
                </a:highlight>
              </a:rPr>
              <a:t>pluralistic</a:t>
            </a:r>
            <a:r>
              <a:rPr lang="de-DE" dirty="0">
                <a:highlight>
                  <a:srgbClr val="C0C0C0"/>
                </a:highlight>
              </a:rPr>
              <a:t> </a:t>
            </a:r>
            <a:r>
              <a:rPr lang="de-DE" dirty="0" err="1">
                <a:highlight>
                  <a:srgbClr val="C0C0C0"/>
                </a:highlight>
              </a:rPr>
              <a:t>benchmarks</a:t>
            </a:r>
            <a:endParaRPr lang="de-DE" dirty="0">
              <a:highlight>
                <a:srgbClr val="C0C0C0"/>
              </a:highlight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D0B86A-F4E7-179A-FC2D-D3F7BCF5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E07C752-8833-AACA-621A-75C2A5B81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6859B7-07CE-48E5-E754-B8AC3E1F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2317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0DFE3-E564-F84A-79F1-7F5AD733D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A Roadmap to </a:t>
            </a:r>
            <a:r>
              <a:rPr lang="de-DE" dirty="0" err="1"/>
              <a:t>Pluralistic</a:t>
            </a:r>
            <a:r>
              <a:rPr lang="de-DE" dirty="0"/>
              <a:t> Alignment </a:t>
            </a:r>
            <a:br>
              <a:rPr lang="de-DE" dirty="0"/>
            </a:br>
            <a:r>
              <a:rPr lang="de-DE" dirty="0"/>
              <a:t>Key </a:t>
            </a:r>
            <a:r>
              <a:rPr lang="de-DE" dirty="0" err="1"/>
              <a:t>Findings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10E5EB-66D9-BF98-3508-D978D61E5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Alignment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>
                <a:highlight>
                  <a:srgbClr val="C0C0C0"/>
                </a:highlight>
              </a:rPr>
              <a:t>reduce</a:t>
            </a:r>
            <a:r>
              <a:rPr lang="de-DE" dirty="0">
                <a:highlight>
                  <a:srgbClr val="C0C0C0"/>
                </a:highlight>
              </a:rPr>
              <a:t> </a:t>
            </a:r>
            <a:r>
              <a:rPr lang="de-DE" dirty="0" err="1">
                <a:highlight>
                  <a:srgbClr val="C0C0C0"/>
                </a:highlight>
              </a:rPr>
              <a:t>response</a:t>
            </a:r>
            <a:r>
              <a:rPr lang="de-DE" dirty="0">
                <a:highlight>
                  <a:srgbClr val="C0C0C0"/>
                </a:highlight>
              </a:rPr>
              <a:t> </a:t>
            </a:r>
            <a:r>
              <a:rPr lang="de-DE" dirty="0" err="1">
                <a:highlight>
                  <a:srgbClr val="C0C0C0"/>
                </a:highlight>
              </a:rPr>
              <a:t>diversity</a:t>
            </a:r>
            <a:endParaRPr lang="de-DE" dirty="0">
              <a:highlight>
                <a:srgbClr val="C0C0C0"/>
              </a:highlight>
            </a:endParaRPr>
          </a:p>
          <a:p>
            <a:endParaRPr lang="de-DE" dirty="0"/>
          </a:p>
          <a:p>
            <a:r>
              <a:rPr lang="de-DE" dirty="0" err="1"/>
              <a:t>Pluralism</a:t>
            </a:r>
            <a:r>
              <a:rPr lang="de-DE" dirty="0"/>
              <a:t> </a:t>
            </a:r>
            <a:r>
              <a:rPr lang="de-DE" dirty="0" err="1"/>
              <a:t>needs</a:t>
            </a:r>
            <a:r>
              <a:rPr lang="de-DE" dirty="0"/>
              <a:t> </a:t>
            </a:r>
            <a:r>
              <a:rPr lang="de-DE" dirty="0">
                <a:highlight>
                  <a:srgbClr val="C0C0C0"/>
                </a:highlight>
              </a:rPr>
              <a:t>different </a:t>
            </a:r>
            <a:r>
              <a:rPr lang="de-DE" dirty="0" err="1">
                <a:highlight>
                  <a:srgbClr val="C0C0C0"/>
                </a:highlight>
              </a:rPr>
              <a:t>training</a:t>
            </a:r>
            <a:r>
              <a:rPr lang="de-DE" dirty="0">
                <a:highlight>
                  <a:srgbClr val="C0C0C0"/>
                </a:highlight>
              </a:rPr>
              <a:t> and </a:t>
            </a:r>
            <a:r>
              <a:rPr lang="de-DE" dirty="0" err="1">
                <a:highlight>
                  <a:srgbClr val="C0C0C0"/>
                </a:highlight>
              </a:rPr>
              <a:t>evaluation</a:t>
            </a:r>
            <a:endParaRPr lang="de-DE" dirty="0">
              <a:highlight>
                <a:srgbClr val="C0C0C0"/>
              </a:highlight>
            </a:endParaRPr>
          </a:p>
          <a:p>
            <a:endParaRPr lang="de-DE" dirty="0"/>
          </a:p>
          <a:p>
            <a:r>
              <a:rPr lang="de-DE" dirty="0"/>
              <a:t>Catering to the </a:t>
            </a:r>
            <a:r>
              <a:rPr lang="de-DE" dirty="0" err="1">
                <a:highlight>
                  <a:srgbClr val="C0C0C0"/>
                </a:highlight>
              </a:rPr>
              <a:t>average</a:t>
            </a:r>
            <a:r>
              <a:rPr lang="de-DE" dirty="0">
                <a:highlight>
                  <a:srgbClr val="C0C0C0"/>
                </a:highlight>
              </a:rPr>
              <a:t> </a:t>
            </a:r>
            <a:r>
              <a:rPr lang="de-DE" dirty="0" err="1">
                <a:highlight>
                  <a:srgbClr val="C0C0C0"/>
                </a:highlight>
              </a:rPr>
              <a:t>opinion</a:t>
            </a:r>
            <a:r>
              <a:rPr lang="de-DE" dirty="0">
                <a:highlight>
                  <a:srgbClr val="C0C0C0"/>
                </a:highlight>
              </a:rPr>
              <a:t> </a:t>
            </a:r>
            <a:r>
              <a:rPr lang="de-DE" dirty="0" err="1">
                <a:highlight>
                  <a:srgbClr val="C0C0C0"/>
                </a:highlight>
              </a:rPr>
              <a:t>does</a:t>
            </a:r>
            <a:r>
              <a:rPr lang="de-DE" dirty="0">
                <a:highlight>
                  <a:srgbClr val="C0C0C0"/>
                </a:highlight>
              </a:rPr>
              <a:t> not </a:t>
            </a:r>
            <a:r>
              <a:rPr lang="de-DE" dirty="0" err="1">
                <a:highlight>
                  <a:srgbClr val="C0C0C0"/>
                </a:highlight>
              </a:rPr>
              <a:t>represent</a:t>
            </a:r>
            <a:r>
              <a:rPr lang="de-DE" dirty="0">
                <a:highlight>
                  <a:srgbClr val="C0C0C0"/>
                </a:highlight>
              </a:rPr>
              <a:t> the </a:t>
            </a:r>
            <a:r>
              <a:rPr lang="de-DE" dirty="0" err="1">
                <a:highlight>
                  <a:srgbClr val="C0C0C0"/>
                </a:highlight>
              </a:rPr>
              <a:t>population</a:t>
            </a:r>
            <a:endParaRPr lang="de-DE" dirty="0">
              <a:highlight>
                <a:srgbClr val="C0C0C0"/>
              </a:highlight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3DDF788-BDEA-787E-40AB-31F4E7AB8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0C8A4C-ECE6-6541-DC03-9E69483C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105104-29C2-6E75-ACF5-58523AB9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5572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4B1B48-1FEB-4EDA-7A03-565ACD594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Whose</a:t>
            </a:r>
            <a:r>
              <a:rPr lang="de-DE" dirty="0"/>
              <a:t> Truth? </a:t>
            </a:r>
            <a:r>
              <a:rPr lang="de-DE" dirty="0" err="1"/>
              <a:t>Pluralistic</a:t>
            </a:r>
            <a:r>
              <a:rPr lang="de-DE" dirty="0"/>
              <a:t> Geo-Alignment for AI Problem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8D94CC-57CF-3484-6F0B-08205848B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85669"/>
          </a:xfrm>
        </p:spPr>
        <p:txBody>
          <a:bodyPr>
            <a:normAutofit lnSpcReduction="10000"/>
          </a:bodyPr>
          <a:lstStyle/>
          <a:p>
            <a:r>
              <a:rPr lang="de-DE" dirty="0" err="1"/>
              <a:t>If</a:t>
            </a:r>
            <a:r>
              <a:rPr lang="de-DE" dirty="0"/>
              <a:t> an </a:t>
            </a:r>
            <a:r>
              <a:rPr lang="de-DE" dirty="0" err="1"/>
              <a:t>answer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reasonable</a:t>
            </a:r>
            <a:r>
              <a:rPr lang="de-DE" dirty="0"/>
              <a:t> </a:t>
            </a:r>
            <a:r>
              <a:rPr lang="de-DE" dirty="0" err="1">
                <a:highlight>
                  <a:srgbClr val="C0C0C0"/>
                </a:highlight>
              </a:rPr>
              <a:t>depends</a:t>
            </a:r>
            <a:r>
              <a:rPr lang="de-DE" dirty="0">
                <a:highlight>
                  <a:srgbClr val="C0C0C0"/>
                </a:highlight>
              </a:rPr>
              <a:t> on the </a:t>
            </a:r>
            <a:r>
              <a:rPr lang="de-DE" dirty="0" err="1">
                <a:highlight>
                  <a:srgbClr val="C0C0C0"/>
                </a:highlight>
              </a:rPr>
              <a:t>location</a:t>
            </a:r>
            <a:r>
              <a:rPr lang="de-DE" dirty="0"/>
              <a:t>, </a:t>
            </a:r>
          </a:p>
          <a:p>
            <a:pPr marL="0" indent="0">
              <a:buNone/>
            </a:pPr>
            <a:r>
              <a:rPr lang="de-DE" dirty="0"/>
              <a:t>  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answers</a:t>
            </a:r>
            <a:r>
              <a:rPr lang="de-DE" dirty="0"/>
              <a:t>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ignore</a:t>
            </a:r>
            <a:r>
              <a:rPr lang="de-DE" dirty="0"/>
              <a:t> </a:t>
            </a:r>
            <a:r>
              <a:rPr lang="de-DE" dirty="0" err="1"/>
              <a:t>this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54EB91A-A5E7-50DF-B5A9-B0BF6B36D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0BE827-4F22-9C4E-9A6C-44335422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48164C-30D0-5D75-E1A5-69A6693B8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7</a:t>
            </a:fld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B852427E-0E4F-0E24-1CD6-EA18B20477AD}"/>
              </a:ext>
            </a:extLst>
          </p:cNvPr>
          <p:cNvSpPr txBox="1">
            <a:spLocks/>
          </p:cNvSpPr>
          <p:nvPr/>
        </p:nvSpPr>
        <p:spPr>
          <a:xfrm>
            <a:off x="2209800" y="294623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Geo-Alignment 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D1FA4BD8-FD96-E5FB-B1AE-CDCE212554EE}"/>
              </a:ext>
            </a:extLst>
          </p:cNvPr>
          <p:cNvSpPr txBox="1">
            <a:spLocks/>
          </p:cNvSpPr>
          <p:nvPr/>
        </p:nvSpPr>
        <p:spPr>
          <a:xfrm>
            <a:off x="2209800" y="4403015"/>
            <a:ext cx="9144000" cy="985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 err="1"/>
              <a:t>Adding</a:t>
            </a:r>
            <a:r>
              <a:rPr lang="de-DE" dirty="0"/>
              <a:t> </a:t>
            </a:r>
            <a:r>
              <a:rPr lang="de-DE" dirty="0" err="1">
                <a:highlight>
                  <a:srgbClr val="C0C0C0"/>
                </a:highlight>
              </a:rPr>
              <a:t>learnable</a:t>
            </a:r>
            <a:r>
              <a:rPr lang="de-DE" dirty="0"/>
              <a:t> </a:t>
            </a:r>
            <a:r>
              <a:rPr lang="de-DE" dirty="0" err="1"/>
              <a:t>spatially</a:t>
            </a:r>
            <a:r>
              <a:rPr lang="de-DE" dirty="0"/>
              <a:t> explicit </a:t>
            </a:r>
            <a:r>
              <a:rPr lang="de-DE" dirty="0" err="1"/>
              <a:t>patterns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2C766F68-D6D6-D6F9-4B5B-547528BF2068}"/>
              </a:ext>
            </a:extLst>
          </p:cNvPr>
          <p:cNvCxnSpPr>
            <a:cxnSpLocks/>
          </p:cNvCxnSpPr>
          <p:nvPr/>
        </p:nvCxnSpPr>
        <p:spPr>
          <a:xfrm>
            <a:off x="1314855" y="3589506"/>
            <a:ext cx="79766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3121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212EF3-7A32-5867-AF94-FB3F9405F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Whose</a:t>
            </a:r>
            <a:r>
              <a:rPr lang="de-DE" dirty="0"/>
              <a:t> Truth? </a:t>
            </a:r>
            <a:r>
              <a:rPr lang="de-DE" dirty="0" err="1"/>
              <a:t>Pluralistic</a:t>
            </a:r>
            <a:r>
              <a:rPr lang="de-DE" dirty="0"/>
              <a:t> Geo-Alignment for AI Research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464EA6-0464-8589-69ED-377500A34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>
                <a:highlight>
                  <a:srgbClr val="C0C0C0"/>
                </a:highlight>
              </a:rPr>
              <a:t>Formalizing</a:t>
            </a:r>
            <a:r>
              <a:rPr lang="de-DE" dirty="0"/>
              <a:t> Geo-Alignment</a:t>
            </a:r>
          </a:p>
          <a:p>
            <a:endParaRPr lang="de-DE" dirty="0"/>
          </a:p>
          <a:p>
            <a:r>
              <a:rPr lang="de-DE" dirty="0" err="1"/>
              <a:t>Highlighting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>
                <a:highlight>
                  <a:srgbClr val="C0C0C0"/>
                </a:highlight>
              </a:rPr>
              <a:t>proposed</a:t>
            </a:r>
            <a:r>
              <a:rPr lang="de-DE" dirty="0">
                <a:highlight>
                  <a:srgbClr val="C0C0C0"/>
                </a:highlight>
              </a:rPr>
              <a:t> </a:t>
            </a:r>
            <a:r>
              <a:rPr lang="de-DE" dirty="0" err="1">
                <a:highlight>
                  <a:srgbClr val="C0C0C0"/>
                </a:highlight>
              </a:rPr>
              <a:t>research</a:t>
            </a:r>
            <a:r>
              <a:rPr lang="de-DE" dirty="0">
                <a:highlight>
                  <a:srgbClr val="C0C0C0"/>
                </a:highlight>
              </a:rPr>
              <a:t> </a:t>
            </a:r>
            <a:r>
              <a:rPr lang="de-DE" dirty="0" err="1">
                <a:highlight>
                  <a:srgbClr val="C0C0C0"/>
                </a:highlight>
              </a:rPr>
              <a:t>directions</a:t>
            </a:r>
            <a:endParaRPr lang="de-DE" dirty="0">
              <a:highlight>
                <a:srgbClr val="C0C0C0"/>
              </a:highlight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124167-0CFF-1CD9-AC26-9F2B5A1B6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0BE3249-2B19-E750-AD26-8319AC39D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E95002-2D41-E91C-A464-F63695398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9738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096596-868F-290F-19E9-74D6F7721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 err="1"/>
              <a:t>Whose</a:t>
            </a:r>
            <a:r>
              <a:rPr lang="de-DE" dirty="0"/>
              <a:t> Truth? </a:t>
            </a:r>
            <a:r>
              <a:rPr lang="de-DE" dirty="0" err="1"/>
              <a:t>Pluralistic</a:t>
            </a:r>
            <a:r>
              <a:rPr lang="de-DE" dirty="0"/>
              <a:t> Geo-Alignment for AI Key </a:t>
            </a:r>
            <a:r>
              <a:rPr lang="de-DE" dirty="0" err="1"/>
              <a:t>Findings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054AC0-FA1B-DE7C-73F7-6D8C8BAF3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Geo-Alignment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>
                <a:highlight>
                  <a:srgbClr val="C0C0C0"/>
                </a:highlight>
              </a:rPr>
              <a:t>formalized</a:t>
            </a:r>
            <a:r>
              <a:rPr lang="de-DE" dirty="0">
                <a:highlight>
                  <a:srgbClr val="C0C0C0"/>
                </a:highlight>
              </a:rPr>
              <a:t> </a:t>
            </a:r>
            <a:r>
              <a:rPr lang="de-DE" dirty="0" err="1">
                <a:highlight>
                  <a:srgbClr val="C0C0C0"/>
                </a:highlight>
              </a:rPr>
              <a:t>using</a:t>
            </a:r>
            <a:r>
              <a:rPr lang="de-DE" dirty="0">
                <a:highlight>
                  <a:srgbClr val="C0C0C0"/>
                </a:highlight>
              </a:rPr>
              <a:t> a </a:t>
            </a:r>
            <a:r>
              <a:rPr lang="de-DE" dirty="0" err="1">
                <a:highlight>
                  <a:srgbClr val="C0C0C0"/>
                </a:highlight>
              </a:rPr>
              <a:t>divergence</a:t>
            </a:r>
            <a:r>
              <a:rPr lang="de-DE" dirty="0">
                <a:highlight>
                  <a:srgbClr val="C0C0C0"/>
                </a:highlight>
              </a:rPr>
              <a:t> </a:t>
            </a:r>
            <a:r>
              <a:rPr lang="de-DE" dirty="0" err="1">
                <a:highlight>
                  <a:srgbClr val="C0C0C0"/>
                </a:highlight>
              </a:rPr>
              <a:t>measure</a:t>
            </a:r>
            <a:endParaRPr lang="de-DE" dirty="0">
              <a:highlight>
                <a:srgbClr val="C0C0C0"/>
              </a:highlight>
            </a:endParaRPr>
          </a:p>
          <a:p>
            <a:endParaRPr lang="de-DE" dirty="0"/>
          </a:p>
          <a:p>
            <a:r>
              <a:rPr lang="de-DE" dirty="0" err="1"/>
              <a:t>Spatial</a:t>
            </a:r>
            <a:r>
              <a:rPr lang="de-DE" dirty="0"/>
              <a:t> </a:t>
            </a:r>
            <a:r>
              <a:rPr lang="de-DE" dirty="0" err="1"/>
              <a:t>variation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>
                <a:highlight>
                  <a:srgbClr val="C0C0C0"/>
                </a:highlight>
              </a:rPr>
              <a:t>not </a:t>
            </a:r>
            <a:r>
              <a:rPr lang="de-DE" dirty="0" err="1">
                <a:highlight>
                  <a:srgbClr val="C0C0C0"/>
                </a:highlight>
              </a:rPr>
              <a:t>properly</a:t>
            </a:r>
            <a:r>
              <a:rPr lang="de-DE" dirty="0">
                <a:highlight>
                  <a:srgbClr val="C0C0C0"/>
                </a:highlight>
              </a:rPr>
              <a:t> </a:t>
            </a:r>
            <a:r>
              <a:rPr lang="de-DE" dirty="0" err="1">
                <a:highlight>
                  <a:srgbClr val="C0C0C0"/>
                </a:highlight>
              </a:rPr>
              <a:t>implemeted</a:t>
            </a:r>
            <a:r>
              <a:rPr lang="de-DE" dirty="0">
                <a:highlight>
                  <a:srgbClr val="C0C0C0"/>
                </a:highlight>
              </a:rPr>
              <a:t> in AI </a:t>
            </a:r>
            <a:r>
              <a:rPr lang="de-DE" dirty="0" err="1">
                <a:highlight>
                  <a:srgbClr val="C0C0C0"/>
                </a:highlight>
              </a:rPr>
              <a:t>alignment</a:t>
            </a:r>
            <a:r>
              <a:rPr lang="de-DE" dirty="0"/>
              <a:t> but </a:t>
            </a:r>
            <a:r>
              <a:rPr lang="de-DE" dirty="0" err="1"/>
              <a:t>offers</a:t>
            </a:r>
            <a:r>
              <a:rPr lang="de-DE" dirty="0"/>
              <a:t> </a:t>
            </a:r>
            <a:r>
              <a:rPr lang="de-DE" dirty="0" err="1">
                <a:highlight>
                  <a:srgbClr val="C0C0C0"/>
                </a:highlight>
              </a:rPr>
              <a:t>learnable</a:t>
            </a:r>
            <a:r>
              <a:rPr lang="de-DE" dirty="0">
                <a:highlight>
                  <a:srgbClr val="C0C0C0"/>
                </a:highlight>
              </a:rPr>
              <a:t> </a:t>
            </a:r>
            <a:r>
              <a:rPr lang="de-DE" dirty="0" err="1">
                <a:highlight>
                  <a:srgbClr val="C0C0C0"/>
                </a:highlight>
              </a:rPr>
              <a:t>solutions</a:t>
            </a:r>
            <a:r>
              <a:rPr lang="de-DE" dirty="0"/>
              <a:t> and </a:t>
            </a:r>
            <a:r>
              <a:rPr lang="de-DE" dirty="0" err="1"/>
              <a:t>should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researched</a:t>
            </a:r>
            <a:r>
              <a:rPr lang="de-DE" dirty="0"/>
              <a:t> </a:t>
            </a:r>
            <a:r>
              <a:rPr lang="de-DE" dirty="0" err="1"/>
              <a:t>further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A498ED-28B1-02A0-0CF4-79416058B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647683A-1618-121E-AE13-85102DDDA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668AE7-CB84-F5B7-7B0A-58502BD2F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0905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262967-BD1B-F3EA-1FEE-2F091176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Experiments for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9EA0622-85F4-367D-FC50-DA501F037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>
                <a:highlight>
                  <a:srgbClr val="C0C0C0"/>
                </a:highlight>
              </a:rPr>
              <a:t>Create </a:t>
            </a:r>
            <a:r>
              <a:rPr lang="de-DE" dirty="0" err="1">
                <a:highlight>
                  <a:srgbClr val="C0C0C0"/>
                </a:highlight>
              </a:rPr>
              <a:t>questions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multiple </a:t>
            </a:r>
            <a:r>
              <a:rPr lang="de-DE" dirty="0" err="1"/>
              <a:t>correct</a:t>
            </a:r>
            <a:r>
              <a:rPr lang="de-DE" dirty="0"/>
              <a:t> </a:t>
            </a:r>
            <a:r>
              <a:rPr lang="de-DE" dirty="0" err="1"/>
              <a:t>answers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differ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places</a:t>
            </a:r>
            <a:endParaRPr lang="de-DE" dirty="0"/>
          </a:p>
          <a:p>
            <a:endParaRPr lang="de-DE" dirty="0"/>
          </a:p>
          <a:p>
            <a:r>
              <a:rPr lang="de-DE" dirty="0">
                <a:highlight>
                  <a:srgbClr val="C0C0C0"/>
                </a:highlight>
              </a:rPr>
              <a:t>Collect </a:t>
            </a:r>
            <a:r>
              <a:rPr lang="de-DE" dirty="0" err="1">
                <a:highlight>
                  <a:srgbClr val="C0C0C0"/>
                </a:highlight>
              </a:rPr>
              <a:t>answers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commen</a:t>
            </a:r>
            <a:r>
              <a:rPr lang="de-DE" dirty="0"/>
              <a:t> </a:t>
            </a:r>
            <a:r>
              <a:rPr lang="de-DE" dirty="0">
                <a:highlight>
                  <a:srgbClr val="C0C0C0"/>
                </a:highlight>
              </a:rPr>
              <a:t>AI </a:t>
            </a:r>
            <a:r>
              <a:rPr lang="de-DE" dirty="0" err="1">
                <a:highlight>
                  <a:srgbClr val="C0C0C0"/>
                </a:highlight>
              </a:rPr>
              <a:t>models</a:t>
            </a:r>
            <a:r>
              <a:rPr lang="de-DE" dirty="0"/>
              <a:t>, </a:t>
            </a:r>
            <a:r>
              <a:rPr lang="de-DE" dirty="0" err="1"/>
              <a:t>answered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different </a:t>
            </a:r>
            <a:r>
              <a:rPr lang="de-DE" dirty="0" err="1"/>
              <a:t>perspectives</a:t>
            </a:r>
            <a:endParaRPr lang="de-DE" dirty="0"/>
          </a:p>
          <a:p>
            <a:endParaRPr lang="de-DE" dirty="0"/>
          </a:p>
          <a:p>
            <a:r>
              <a:rPr lang="de-DE" dirty="0"/>
              <a:t>Collect </a:t>
            </a:r>
            <a:r>
              <a:rPr lang="de-DE" dirty="0" err="1"/>
              <a:t>answers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the </a:t>
            </a:r>
            <a:r>
              <a:rPr lang="de-DE" dirty="0" err="1">
                <a:highlight>
                  <a:srgbClr val="C0C0C0"/>
                </a:highlight>
              </a:rPr>
              <a:t>audience</a:t>
            </a:r>
            <a:endParaRPr lang="de-DE" dirty="0">
              <a:highlight>
                <a:srgbClr val="C0C0C0"/>
              </a:highlight>
            </a:endParaRPr>
          </a:p>
          <a:p>
            <a:endParaRPr lang="de-DE" dirty="0"/>
          </a:p>
          <a:p>
            <a:r>
              <a:rPr lang="de-DE" dirty="0" err="1">
                <a:highlight>
                  <a:srgbClr val="C0C0C0"/>
                </a:highlight>
              </a:rPr>
              <a:t>Compare</a:t>
            </a:r>
            <a:r>
              <a:rPr lang="de-DE" dirty="0"/>
              <a:t>, </a:t>
            </a:r>
            <a:r>
              <a:rPr lang="de-DE" dirty="0" err="1"/>
              <a:t>maybe</a:t>
            </a:r>
            <a:r>
              <a:rPr lang="de-DE" dirty="0"/>
              <a:t> </a:t>
            </a:r>
            <a:r>
              <a:rPr lang="de-DE" dirty="0" err="1"/>
              <a:t>build</a:t>
            </a:r>
            <a:r>
              <a:rPr lang="de-DE" dirty="0"/>
              <a:t> a small </a:t>
            </a:r>
            <a:r>
              <a:rPr lang="de-DE" dirty="0" err="1"/>
              <a:t>application</a:t>
            </a:r>
            <a:r>
              <a:rPr lang="de-DE" dirty="0"/>
              <a:t> to </a:t>
            </a:r>
            <a:r>
              <a:rPr lang="de-DE" dirty="0" err="1"/>
              <a:t>make</a:t>
            </a:r>
            <a:r>
              <a:rPr lang="de-DE" dirty="0"/>
              <a:t> it </a:t>
            </a:r>
            <a:r>
              <a:rPr lang="de-DE" dirty="0" err="1"/>
              <a:t>pretty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97E1E85-7D72-B318-8087-4CD29ED9D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Pluralism and Alignment by Florian Frank &amp; Mattis Gerhardt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E315FA-E53C-2555-0DCB-3BF85691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19.10.2026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FEC760-709B-3FB6-2B7E-0FAFC79A0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CAC1-5081-4D2E-8CEE-AE0F561F65D5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5631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9C5181D-928E-63CF-70ED-1E66F29E6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03" y="3399769"/>
            <a:ext cx="10640754" cy="7758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 FOR YOU ATTENTION!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534CA3F3-2081-F124-3510-5A9E7C7E1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" t="3846" r="3217"/>
          <a:stretch>
            <a:fillRect/>
          </a:stretch>
        </p:blipFill>
        <p:spPr>
          <a:xfrm>
            <a:off x="1495075" y="563200"/>
            <a:ext cx="8170729" cy="2836567"/>
          </a:xfrm>
          <a:prstGeom prst="rect">
            <a:avLst/>
          </a:prstGeom>
        </p:spPr>
      </p:pic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E8E174-E5F4-B87E-EF6D-C25BEC903A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04672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tint val="75000"/>
                  </a:schemeClr>
                </a:solidFill>
              </a:rPr>
              <a:t>19.10.2026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33E2EB-C94C-C9D3-9FA7-84BF1BAFF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Pluralism and Alignment by Florian Frank &amp; Mattis Gerhardt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8463BD-B191-4D14-F79D-9191CD881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007CAC1-5081-4D2E-8CEE-AE0F561F65D5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7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</Words>
  <Application>Microsoft Office PowerPoint</Application>
  <PresentationFormat>Breitbild</PresentationFormat>
  <Paragraphs>109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Office</vt:lpstr>
      <vt:lpstr>Benutzerdefiniertes Design</vt:lpstr>
      <vt:lpstr>Pluralism and Alignment</vt:lpstr>
      <vt:lpstr>Literature</vt:lpstr>
      <vt:lpstr>What are Pluralism and Alignment?</vt:lpstr>
      <vt:lpstr>A Roadmap to Pluralistic Alignment Problems</vt:lpstr>
      <vt:lpstr>A Roadmap to Pluralistic Alignment  Research </vt:lpstr>
      <vt:lpstr>A Roadmap to Pluralistic Alignment  Key Findings</vt:lpstr>
      <vt:lpstr>Whose Truth? Pluralistic Geo-Alignment for AI Problem </vt:lpstr>
      <vt:lpstr>Whose Truth? Pluralistic Geo-Alignment for AI Research </vt:lpstr>
      <vt:lpstr>Whose Truth? Pluralistic Geo-Alignment for AI Key Findings </vt:lpstr>
      <vt:lpstr>Experiments for our Presentation</vt:lpstr>
      <vt:lpstr>THANK YOU FOR YOU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Mattis Gerhardt</dc:creator>
  <cp:lastModifiedBy>Mattis Gerhardt</cp:lastModifiedBy>
  <cp:revision>13</cp:revision>
  <dcterms:created xsi:type="dcterms:W3CDTF">2026-10-14T16:56:03Z</dcterms:created>
  <dcterms:modified xsi:type="dcterms:W3CDTF">2026-10-15T15:53:31Z</dcterms:modified>
</cp:coreProperties>
</file>